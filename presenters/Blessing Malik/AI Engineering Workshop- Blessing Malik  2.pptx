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oboto Mono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Mono-bold.fntdata"/><Relationship Id="rId10" Type="http://schemas.openxmlformats.org/officeDocument/2006/relationships/font" Target="fonts/RobotoMono-regular.fntdata"/><Relationship Id="rId13" Type="http://schemas.openxmlformats.org/officeDocument/2006/relationships/font" Target="fonts/RobotoMono-boldItalic.fntdata"/><Relationship Id="rId12" Type="http://schemas.openxmlformats.org/officeDocument/2006/relationships/font" Target="fonts/RobotoMon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5b939f6d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5b939f6d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5b939f6d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5b939f6d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5b939f6d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5b939f6d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slow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lide 1 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0" y="492125"/>
            <a:ext cx="6617700" cy="151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3680">
                <a:solidFill>
                  <a:srgbClr val="C89B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One File That Changes What the AI Gives You </a:t>
            </a:r>
            <a:endParaRPr b="1" sz="3680">
              <a:solidFill>
                <a:srgbClr val="C89B3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444500" y="2326263"/>
            <a:ext cx="3390900" cy="507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359012" y="1956975"/>
            <a:ext cx="445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rgbClr val="F7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request. Different project context.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3802400" y="3655575"/>
            <a:ext cx="4875900" cy="12759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3835400" y="3896475"/>
            <a:ext cx="47214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F7F6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rgbClr val="F7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 &amp; Design Student Workshop · Blessing Malik</a:t>
            </a:r>
            <a:endParaRPr b="1" sz="1200">
              <a:solidFill>
                <a:srgbClr val="F7F6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7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</a:t>
            </a:r>
            <a:r>
              <a:rPr lang="en-GB" sz="1200">
                <a:solidFill>
                  <a:srgbClr val="F7F6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October 2026 </a:t>
            </a:r>
            <a:endParaRPr sz="1200">
              <a:solidFill>
                <a:srgbClr val="F7F6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0" y="0"/>
            <a:ext cx="9144000" cy="1017600"/>
          </a:xfrm>
          <a:prstGeom prst="rect">
            <a:avLst/>
          </a:prstGeom>
          <a:solidFill>
            <a:srgbClr val="0B1F3A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500">
                <a:solidFill>
                  <a:srgbClr val="C89B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What is AGENTS.md</a:t>
            </a:r>
            <a:endParaRPr b="1" sz="3500">
              <a:solidFill>
                <a:srgbClr val="C89B3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5" name="Google Shape;65;p14"/>
          <p:cNvGrpSpPr/>
          <p:nvPr/>
        </p:nvGrpSpPr>
        <p:grpSpPr>
          <a:xfrm>
            <a:off x="138626" y="1309325"/>
            <a:ext cx="8728962" cy="2481046"/>
            <a:chOff x="196675" y="1381965"/>
            <a:chExt cx="4375200" cy="759985"/>
          </a:xfrm>
        </p:grpSpPr>
        <p:sp>
          <p:nvSpPr>
            <p:cNvPr id="66" name="Google Shape;66;p14"/>
            <p:cNvSpPr/>
            <p:nvPr/>
          </p:nvSpPr>
          <p:spPr>
            <a:xfrm>
              <a:off x="196675" y="1403050"/>
              <a:ext cx="4375200" cy="738900"/>
            </a:xfrm>
            <a:prstGeom prst="rect">
              <a:avLst/>
            </a:prstGeom>
            <a:solidFill>
              <a:srgbClr val="F7F6F2"/>
            </a:solidFill>
            <a:ln>
              <a:noFill/>
            </a:ln>
            <a:effectLst>
              <a:outerShdw blurRad="285057" rotWithShape="0" algn="bl" dir="6600000" dist="76015">
                <a:srgbClr val="000000">
                  <a:alpha val="30000"/>
                </a:srgbClr>
              </a:outerShdw>
            </a:effectLst>
          </p:spPr>
          <p:txBody>
            <a:bodyPr anchorCtr="0" anchor="ctr" bIns="182400" lIns="182400" spcFirstLastPara="1" rIns="182400" wrap="square" tIns="182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793"/>
            </a:p>
          </p:txBody>
        </p:sp>
        <p:sp>
          <p:nvSpPr>
            <p:cNvPr id="67" name="Google Shape;67;p14"/>
            <p:cNvSpPr txBox="1"/>
            <p:nvPr/>
          </p:nvSpPr>
          <p:spPr>
            <a:xfrm>
              <a:off x="355062" y="1381965"/>
              <a:ext cx="41397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2400" lIns="182400" spcFirstLastPara="1" rIns="182400" wrap="square" tIns="1824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GB" sz="1800">
                  <a:solidFill>
                    <a:srgbClr val="0B1F3A"/>
                  </a:solidFill>
                </a:rPr>
                <a:t>An onboarding guide for an AI coding agent</a:t>
              </a:r>
              <a:endParaRPr b="1" sz="1800">
                <a:solidFill>
                  <a:srgbClr val="0B1F3A"/>
                </a:solidFill>
              </a:endParaRPr>
            </a:p>
            <a:p>
              <a:pPr indent="-34290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B1F3A"/>
                </a:buClr>
                <a:buSzPts val="1800"/>
                <a:buChar char="●"/>
              </a:pPr>
              <a:r>
                <a:rPr lang="en-GB" sz="1800">
                  <a:solidFill>
                    <a:srgbClr val="0B1F3A"/>
                  </a:solidFill>
                </a:rPr>
                <a:t>A plain Markdown file kept in a project</a:t>
              </a:r>
              <a:endParaRPr sz="1800">
                <a:solidFill>
                  <a:srgbClr val="0B1F3A"/>
                </a:solidFill>
              </a:endParaRPr>
            </a:p>
            <a:p>
              <a:pPr indent="-3429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1F3A"/>
                </a:buClr>
                <a:buSzPts val="1800"/>
                <a:buChar char="●"/>
              </a:pPr>
              <a:r>
                <a:rPr lang="en-GB" sz="1800">
                  <a:solidFill>
                    <a:srgbClr val="0B1F3A"/>
                  </a:solidFill>
                </a:rPr>
                <a:t>Gives the agent instructions about how the project works</a:t>
              </a:r>
              <a:endParaRPr sz="1800">
                <a:solidFill>
                  <a:srgbClr val="0B1F3A"/>
                </a:solidFill>
              </a:endParaRPr>
            </a:p>
            <a:p>
              <a:pPr indent="-3429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1F3A"/>
                </a:buClr>
                <a:buSzPts val="1800"/>
                <a:buChar char="●"/>
              </a:pPr>
              <a:r>
                <a:rPr lang="en-GB" sz="1800">
                  <a:solidFill>
                    <a:srgbClr val="0B1F3A"/>
                  </a:solidFill>
                </a:rPr>
                <a:t>Read by supported coding tools when they start work</a:t>
              </a:r>
              <a:endParaRPr sz="1800">
                <a:solidFill>
                  <a:srgbClr val="0B1F3A"/>
                </a:solidFill>
              </a:endParaRPr>
            </a:p>
          </p:txBody>
        </p:sp>
      </p:grpSp>
      <p:grpSp>
        <p:nvGrpSpPr>
          <p:cNvPr id="68" name="Google Shape;68;p14"/>
          <p:cNvGrpSpPr/>
          <p:nvPr/>
        </p:nvGrpSpPr>
        <p:grpSpPr>
          <a:xfrm>
            <a:off x="138627" y="4080125"/>
            <a:ext cx="8903970" cy="759975"/>
            <a:chOff x="196675" y="1381975"/>
            <a:chExt cx="4375200" cy="759975"/>
          </a:xfrm>
        </p:grpSpPr>
        <p:sp>
          <p:nvSpPr>
            <p:cNvPr id="69" name="Google Shape;69;p14"/>
            <p:cNvSpPr/>
            <p:nvPr/>
          </p:nvSpPr>
          <p:spPr>
            <a:xfrm>
              <a:off x="196675" y="1403050"/>
              <a:ext cx="4375200" cy="738900"/>
            </a:xfrm>
            <a:prstGeom prst="rect">
              <a:avLst/>
            </a:prstGeom>
            <a:solidFill>
              <a:srgbClr val="0B1F3A"/>
            </a:solidFill>
            <a:ln>
              <a:noFill/>
            </a:ln>
            <a:effectLst>
              <a:outerShdw blurRad="142875" rotWithShape="0" algn="bl" dir="6600000" dist="38100">
                <a:srgbClr val="000000">
                  <a:alpha val="3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 txBox="1"/>
            <p:nvPr/>
          </p:nvSpPr>
          <p:spPr>
            <a:xfrm>
              <a:off x="355075" y="1381975"/>
              <a:ext cx="4093500" cy="738900"/>
            </a:xfrm>
            <a:prstGeom prst="rect">
              <a:avLst/>
            </a:prstGeom>
            <a:solidFill>
              <a:srgbClr val="0B1F3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GB" sz="1300">
                  <a:solidFill>
                    <a:srgbClr val="C89B3C"/>
                  </a:solidFill>
                </a:rPr>
                <a:t>The prompt describes today’s task. </a:t>
              </a:r>
              <a:r>
                <a:rPr b="1" lang="en-GB" sz="1300">
                  <a:solidFill>
                    <a:srgbClr val="C89B3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AGENTS.md</a:t>
              </a:r>
              <a:r>
                <a:rPr b="1" lang="en-GB" sz="1300">
                  <a:solidFill>
                    <a:srgbClr val="C89B3C"/>
                  </a:solidFill>
                </a:rPr>
                <a:t> provides the project’s standing instructions.</a:t>
              </a:r>
              <a:endParaRPr sz="1600">
                <a:solidFill>
                  <a:srgbClr val="C89B3C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/>
          <p:nvPr/>
        </p:nvSpPr>
        <p:spPr>
          <a:xfrm>
            <a:off x="179007" y="1214350"/>
            <a:ext cx="8650500" cy="3091500"/>
          </a:xfrm>
          <a:prstGeom prst="rect">
            <a:avLst/>
          </a:prstGeom>
          <a:solidFill>
            <a:srgbClr val="F7F6F2"/>
          </a:solidFill>
          <a:ln>
            <a:noFill/>
          </a:ln>
          <a:effectLst>
            <a:outerShdw blurRad="71438" rotWithShape="0" algn="bl" dir="5400000" dist="19050">
              <a:srgbClr val="000000">
                <a:alpha val="1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243800" y="1474176"/>
            <a:ext cx="8520600" cy="27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The things a Agent would need to know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Which tools and frameworks the project uses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Where different files belong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Which existing patterns to follow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Coding and design conventions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How to check that the work is complete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>
                <a:solidFill>
                  <a:schemeClr val="dk1"/>
                </a:solidFill>
              </a:rPr>
              <a:t>Keep it specific and concise</a:t>
            </a:r>
            <a:endParaRPr>
              <a:solidFill>
                <a:srgbClr val="0B1F3A"/>
              </a:solidFill>
            </a:endParaRPr>
          </a:p>
        </p:txBody>
      </p:sp>
      <p:sp>
        <p:nvSpPr>
          <p:cNvPr id="77" name="Google Shape;77;p15"/>
          <p:cNvSpPr txBox="1"/>
          <p:nvPr>
            <p:ph type="title"/>
          </p:nvPr>
        </p:nvSpPr>
        <p:spPr>
          <a:xfrm>
            <a:off x="0" y="0"/>
            <a:ext cx="9144000" cy="1017600"/>
          </a:xfrm>
          <a:prstGeom prst="rect">
            <a:avLst/>
          </a:prstGeom>
          <a:solidFill>
            <a:srgbClr val="0B1F3A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C89B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belong in it?</a:t>
            </a:r>
            <a:endParaRPr b="1" sz="3600">
              <a:solidFill>
                <a:srgbClr val="C89B3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0" y="4638977"/>
            <a:ext cx="9144000" cy="4155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89B3C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6" title="ChatGPT Image Jul 25, 2026, 11_10_17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8300" y="888125"/>
            <a:ext cx="7775774" cy="425552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>
            <p:ph type="title"/>
          </p:nvPr>
        </p:nvSpPr>
        <p:spPr>
          <a:xfrm>
            <a:off x="0" y="0"/>
            <a:ext cx="9144000" cy="1017600"/>
          </a:xfrm>
          <a:prstGeom prst="rect">
            <a:avLst/>
          </a:prstGeom>
          <a:solidFill>
            <a:srgbClr val="0B1F3A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C89B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live experiment</a:t>
            </a:r>
            <a:endParaRPr b="1" sz="3600">
              <a:solidFill>
                <a:srgbClr val="C89B3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6"/>
          <p:cNvSpPr txBox="1"/>
          <p:nvPr>
            <p:ph type="title"/>
          </p:nvPr>
        </p:nvSpPr>
        <p:spPr>
          <a:xfrm>
            <a:off x="0" y="4640099"/>
            <a:ext cx="9144000" cy="503700"/>
          </a:xfrm>
          <a:prstGeom prst="rect">
            <a:avLst/>
          </a:prstGeom>
          <a:solidFill>
            <a:srgbClr val="0B1F3A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C89B3C"/>
                </a:solidFill>
              </a:rPr>
              <a:t> </a:t>
            </a:r>
            <a:endParaRPr sz="1400">
              <a:solidFill>
                <a:srgbClr val="C89B3C"/>
              </a:solidFill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-4204" y="1017600"/>
            <a:ext cx="5428500" cy="3622500"/>
          </a:xfrm>
          <a:prstGeom prst="rect">
            <a:avLst/>
          </a:prstGeom>
          <a:solidFill>
            <a:srgbClr val="F7F6F2"/>
          </a:solidFill>
          <a:ln>
            <a:noFill/>
          </a:ln>
          <a:effectLst>
            <a:outerShdw blurRad="57150" rotWithShape="0" algn="bl" dir="5400000" dist="19050">
              <a:srgbClr val="000000">
                <a:alpha val="1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121025" y="2031151"/>
            <a:ext cx="4989900" cy="15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One request. Different result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rPr b="1" lang="en-GB" sz="1400">
                <a:solidFill>
                  <a:schemeClr val="dk1"/>
                </a:solidFill>
              </a:rPr>
              <a:t>Prompt</a:t>
            </a:r>
            <a:r>
              <a:rPr lang="en-GB" sz="1400">
                <a:solidFill>
                  <a:schemeClr val="dk1"/>
                </a:solidFill>
              </a:rPr>
              <a:t>: Build a simple create-account page with full name, email, password, and a Create account button. Use plain HTML, CSS, and JavaScript in one file. Show a confirmation message when the form is submitted.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